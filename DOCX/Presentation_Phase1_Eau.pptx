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94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371600" cy="365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459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94A8"/>
                </a:solidFill>
              </a:rPr>
              <a:t>Global Health Data Science Project  -  M1 DS4SC  -  2026-2027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2984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Qualité de l'eau du robinet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568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4A8"/>
                </a:solidFill>
              </a:rPr>
              <a:t>et pression agricole en France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487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FC0"/>
                </a:solidFill>
              </a:rPr>
              <a:t>Document de cadrage  -  Phase 1 : Besoins utilisateurs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66160" y="2852928"/>
            <a:ext cx="2011680" cy="27432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57200" y="2999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FC0"/>
                </a:solidFill>
              </a:rPr>
              <a:t>Encadrants : Alexandre Chanson &amp; Veronika Peralta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Ibrahima BODIAN   -   Tima SIDIBE   -   Sham M MURSHITH   -   Fanta TANGARA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2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14630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</a:rPr>
              <a:t>Contexte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56032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56032" y="768096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84048" y="12618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Un suivi réglementaire rigoureux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84048" y="1792224"/>
            <a:ext cx="2523744" cy="2596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Plus de 300 000 prélèvements par an en France, encadrés par la Directive européenne 98/83/CE. Les paramètres couverts sont microbiologiques, physico-chimiques et radiologiques.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63824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163824" y="768096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12618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Une pression agricole réelle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291840" y="1792224"/>
            <a:ext cx="2523744" cy="2596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Les pesticides, engrais et herbicides utilisés en agriculture lessivage les nappes phréatiques qui alimentent les réseaux d'eau potable. Cette contamination varie selon les régions et les cultures.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71616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071616" y="768096"/>
            <a:ext cx="2779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126187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Notre approche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199632" y="1792224"/>
            <a:ext cx="2523744" cy="2596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Croiser les résultats des contrôles sanitaires (SISE-Eaux) avec les données d'usage des pesticides (Solagro) pour détecter des corrélations entre pratiques agricoles et qualité de l'eau.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3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14630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</a:rPr>
              <a:t>Sources de données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56032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84048" y="786384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002B5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84048" y="786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SOURCE PRINCIPALE</a:t>
            </a:r>
            <a:endParaRPr lang="en-US" sz="650" dirty="0"/>
          </a:p>
        </p:txBody>
      </p:sp>
      <p:sp>
        <p:nvSpPr>
          <p:cNvPr id="12" name="Text 8"/>
          <p:cNvSpPr txBox="1"/>
          <p:nvPr/>
        </p:nvSpPr>
        <p:spPr>
          <a:xfrm>
            <a:off x="384048" y="113385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SISE-Eaux (Ministère de la Santé)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84048" y="166420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Contrôles sanitaires commune par commune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84048" y="213969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Conformité chimique, bactériologique, radiologique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84048" y="26151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Fichiers : DIS_PLV, DIS_RESULT, DIS_COM_UDI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84048" y="30906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Données disponibles de 2016 à 2025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163824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91840" y="786384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1B664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91840" y="786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DONNÉES CROISÉES</a:t>
            </a:r>
            <a:endParaRPr lang="en-US" sz="650" dirty="0"/>
          </a:p>
        </p:txBody>
      </p:sp>
      <p:sp>
        <p:nvSpPr>
          <p:cNvPr id="20" name="Text 16"/>
          <p:cNvSpPr txBox="1"/>
          <p:nvPr/>
        </p:nvSpPr>
        <p:spPr>
          <a:xfrm>
            <a:off x="3291840" y="113385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Solagro - Usage des pesticides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291840" y="166420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IFT (Indice de Fréquence de Traitement)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291840" y="213969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Herbicides, insecticides, fongicides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291840" y="26151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Années 2020, 2021 et 2022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291840" y="3090672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Echelle commune, couverture nationale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071616" y="658368"/>
            <a:ext cx="2779776" cy="3858768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99632" y="786384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5A6878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199632" y="786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OPTIONNEL</a:t>
            </a:r>
            <a:endParaRPr lang="en-US" sz="650" dirty="0"/>
          </a:p>
        </p:txBody>
      </p:sp>
      <p:sp>
        <p:nvSpPr>
          <p:cNvPr id="28" name="Text 24"/>
          <p:cNvSpPr txBox="1"/>
          <p:nvPr/>
        </p:nvSpPr>
        <p:spPr>
          <a:xfrm>
            <a:off x="6199632" y="113385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Données complémentaires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6199632" y="1664208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Achats de pesticides par code postal (data.gouv.fr)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6199632" y="2139696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Données anglaises DEFRA pour comparaison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6199632" y="2615184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- A mobiliser selon le temps disponible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94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94A8"/>
                </a:solidFill>
              </a:rPr>
              <a:t>Thème retenu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« Conformité sanitaire de l'eau du robinet et pression agricole :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078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4A8"/>
                </a:solidFill>
              </a:rPr>
              <a:t>cartographie, corrélations et évolutions sur le territoire français »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7190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C4D8"/>
                </a:solidFill>
              </a:rPr>
              <a:t>Question centrale : la pression agricole se traduit-elle par une dégradation mesurable de la qualité de l'eau du robinet ?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6032" y="2395728"/>
            <a:ext cx="2048256" cy="1463040"/>
          </a:xfrm>
          <a:prstGeom prst="roundRect">
            <a:avLst>
              <a:gd name="adj" fmla="val 3750"/>
            </a:avLst>
          </a:prstGeom>
          <a:solidFill>
            <a:srgbClr val="0A2E5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56032" y="25420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AXE 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56032" y="2871216"/>
            <a:ext cx="2048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Cartographie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432304" y="2395728"/>
            <a:ext cx="2048256" cy="1463040"/>
          </a:xfrm>
          <a:prstGeom prst="roundRect">
            <a:avLst>
              <a:gd name="adj" fmla="val 3750"/>
            </a:avLst>
          </a:prstGeom>
          <a:solidFill>
            <a:srgbClr val="0A2E5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432304" y="25420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AXE 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432304" y="2871216"/>
            <a:ext cx="2048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Corrélation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08576" y="2395728"/>
            <a:ext cx="2048256" cy="1463040"/>
          </a:xfrm>
          <a:prstGeom prst="roundRect">
            <a:avLst>
              <a:gd name="adj" fmla="val 3750"/>
            </a:avLst>
          </a:prstGeom>
          <a:solidFill>
            <a:srgbClr val="0A2E5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08576" y="25420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AXE 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608576" y="2871216"/>
            <a:ext cx="2048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Evolution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784848" y="2395728"/>
            <a:ext cx="2048256" cy="1463040"/>
          </a:xfrm>
          <a:prstGeom prst="roundRect">
            <a:avLst>
              <a:gd name="adj" fmla="val 3750"/>
            </a:avLst>
          </a:prstGeom>
          <a:solidFill>
            <a:srgbClr val="0A2E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84848" y="25420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AXE 4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784848" y="2871216"/>
            <a:ext cx="2048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Zones à risque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5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256032" y="12801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2B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56032" y="128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AXE 1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128016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5C"/>
                </a:solidFill>
              </a:rPr>
              <a:t>Cartographie de la non-conformité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56032" y="51206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Responsable : Sham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" y="804672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804672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02336" y="89611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Q1 - Quels départements concentrent le plus de non-conformités 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2336" y="1243584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5720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517904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On compte les prélèvements non conformes (valeur N dans DIS_PLV) par département et on calcule le taux. Carte choroplèthe dans Tableau + tableau des 10 dép. les plus touchés.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25696" y="1243584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480560" y="1280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1517904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Classification des départements en quartiles de risque. Test de Shapiro-Wilk pour vérifier la normalité des distributions.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889504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56032" y="2889504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2336" y="2980944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Q2 - Quels paramètres chimiques dépassent le plus souvent les seuils 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02336" y="3328416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7200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602736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Dans DIS_RESULT, on repère les paramètres dont la valeur dépasse la limite réglementaire. On classe par familles : pesticides, nitrates, bactériologie, autres. Histogramme + diagramme par famille.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425696" y="3328416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4480560" y="33649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4480560" y="3602736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Analyse de Pareto pour identifier les paramètres responsables de la majorité des non-conformités. Co-occurrence de dépassements pour détecter des profils de contamination.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6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256032" y="12801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2B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56032" y="128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AXE 2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128016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5C"/>
                </a:solidFill>
              </a:rPr>
              <a:t>Corrélation avec la pression agricole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56032" y="51206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Responsable : Ibrahima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" y="804672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804672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02336" y="89611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Q3 - Y a-t-il un lien entre l'usage de pesticides (IFT) et la non-conformité de l'eau 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2336" y="1243584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5720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517904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Deux cartes côte à côte : taux de non-conformité par département (axe 1) et IFT moyen par département (colonne ift_t dans Solagro). Scatter plot département par département.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25696" y="1243584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480560" y="1280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1517904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Corrélation de Spearman entre IFT et taux de non-conformité, avec test de significativité. On utilise Spearman car on n'attend pas de distribution normale sur ces données.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889504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56032" y="2889504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2336" y="2980944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Q4 - Les herbicides sont-ils plus liés aux non-conformités que les autres produits 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02336" y="3328416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7200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602736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Solagro distingue l'IFT herbicides (ift_h) et hors herbicides (ift_t_hh). Graphiques comparatifs par famille. Si DIS_RESULT le permet, on liste les substances retrouvées dans l'eau.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425696" y="3328416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4480560" y="33649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4480560" y="3602736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Corrélation de Spearman séparée pour chaque famille. Comparer les coefficients indique quelle famille est la plus liée à la contamination.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7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256032" y="12801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2B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56032" y="128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AXE 3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128016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5C"/>
                </a:solidFill>
              </a:rPr>
              <a:t>Evolution temporelle (2020-2022)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56032" y="51206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Responsable : Fatoumata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" y="804672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804672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02336" y="89611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Q5 - La qualité de l'eau a-t-elle bougé entre 2020 et 2022 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2336" y="1243584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5720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517904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Taux de non-conformité calculé année par année, au national et par département. Courbes d'évolution + cartes comparatives côte à côte + tableau des dép. les plus dégradés.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25696" y="1243584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480560" y="1280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1517904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Test de Mann-Whitney pour vérifier si la différence entre 2020 et 2022 est statistiquement significative et pas juste une fluctuation.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889504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56032" y="2889504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2336" y="2980944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Q6 - Quand l'usage de pesticides baisse, l'eau s'améliore-t-elle 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02336" y="3328416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7200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602736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On croise la variation de l'IFT entre 2020 et 2022 (colonne ift_t_hbc_dif dans Solagro) avec la variation du taux de non-conformité. Scatter plot des variations par département.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425696" y="3328416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4480560" y="33649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4480560" y="3602736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Régression linéaire simple entre variation de l'IFT et variation de la conformité. R2 pour mesurer la part expliquée, résidus pour repérer les cas atypiques.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8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256032" y="128016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02B5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56032" y="128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AXE 4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128016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5C"/>
                </a:solidFill>
              </a:rPr>
              <a:t>Profil des zones à risque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56032" y="51206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78"/>
                </a:solidFill>
              </a:rPr>
              <a:t>Responsable : Fanta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" y="804672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804672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02336" y="89611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Q7 - Peut-on regrouper les communes en profils de risque 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2336" y="1243584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5720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1517904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Jeu de données communal : taux de non-conformité croisé avec les indicateurs Solagro (SAU, IFT, bio, population, culture dominante). Histogrammes et box plots conformes vs non conformes.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425696" y="1243584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480560" y="1280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1517904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Clustering K-means sur variables standardisées. Méthode du coude pour le nombre de clusters. Chaque groupe est caractérisé par ses valeurs moyennes.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56032" y="2889504"/>
            <a:ext cx="863193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56032" y="2889504"/>
            <a:ext cx="73152" cy="192024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02336" y="2980944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</a:rPr>
              <a:t>Q8 - Peut-on prédire si une commune aura de l'eau non conforme 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02336" y="3328416"/>
            <a:ext cx="3913632" cy="1353312"/>
          </a:xfrm>
          <a:prstGeom prst="roundRect">
            <a:avLst>
              <a:gd name="adj" fmla="val 4054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57200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</a:rPr>
              <a:t>Data analyse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602736"/>
            <a:ext cx="37490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Variable binaire : commune à risque (au moins un prélèvement non conforme) ou conforme. Tableaux croisés et graphiques pour identifier les facteurs les plus discriminants.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425696" y="3328416"/>
            <a:ext cx="4389120" cy="1353312"/>
          </a:xfrm>
          <a:prstGeom prst="roundRect">
            <a:avLst>
              <a:gd name="adj" fmla="val 405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4480560" y="33649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644"/>
                </a:solidFill>
              </a:rPr>
              <a:t>Data science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4480560" y="3602736"/>
            <a:ext cx="420624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62E"/>
                </a:solidFill>
              </a:rPr>
              <a:t>Régression logistique. Validation croisée (5 folds). Performances mesurées par la matrice de confusion et la courbe ROC.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9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14630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</a:rPr>
              <a:t>Outils et démarche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56032" y="658368"/>
            <a:ext cx="4151376" cy="420624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84048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</a:rPr>
              <a:t>Stack d'outils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" y="1115568"/>
            <a:ext cx="3950208" cy="54864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20624" y="1152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4A8"/>
                </a:solidFill>
              </a:rPr>
              <a:t>Excel / Power Query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20624" y="1371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Nettoyage, jointures, harmonisation des codes INSEE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47472" y="1755648"/>
            <a:ext cx="3950208" cy="54864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20624" y="1792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4A8"/>
                </a:solidFill>
              </a:rPr>
              <a:t>Tableau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20624" y="2011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Cartes, scatter plots, courbes d'évolution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7472" y="2395728"/>
            <a:ext cx="3950208" cy="54864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20624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4A8"/>
                </a:solidFill>
              </a:rPr>
              <a:t>KNIME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20624" y="2651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Pipelines ML : K-means, régression logistique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47472" y="3035808"/>
            <a:ext cx="3950208" cy="54864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420624" y="3072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4A8"/>
                </a:solidFill>
              </a:rPr>
              <a:t>RStudio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20624" y="3291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Tests statistiques : Spearman, Mann-Whitney, régressions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47472" y="3675888"/>
            <a:ext cx="3950208" cy="54864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420624" y="3712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4A8"/>
                </a:solidFill>
              </a:rPr>
              <a:t>DataClean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420624" y="3931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Standardisation et nettoyage en amont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4663440" y="658368"/>
            <a:ext cx="422452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4773168" y="74980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</a:rPr>
              <a:t>Démarche par question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36592" y="1115568"/>
            <a:ext cx="4059936" cy="694944"/>
          </a:xfrm>
          <a:prstGeom prst="roundRect">
            <a:avLst>
              <a:gd name="adj" fmla="val 789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36592" y="1115568"/>
            <a:ext cx="310896" cy="694944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736592" y="1115568"/>
            <a:ext cx="310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102352" y="11521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62E"/>
                </a:solidFill>
              </a:rPr>
              <a:t>Nettoyage et préparation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5102352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Import, harmonisation des codes, valeurs manquantes, jointures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736592" y="1901952"/>
            <a:ext cx="4059936" cy="694944"/>
          </a:xfrm>
          <a:prstGeom prst="roundRect">
            <a:avLst>
              <a:gd name="adj" fmla="val 789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36592" y="1901952"/>
            <a:ext cx="310896" cy="694944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736592" y="1901952"/>
            <a:ext cx="310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5102352" y="1938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62E"/>
                </a:solidFill>
              </a:rPr>
              <a:t>Exploration (data analyse)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5102352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Stats descriptives, distributions, visualisations exploratoires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36592" y="2688336"/>
            <a:ext cx="4059936" cy="694944"/>
          </a:xfrm>
          <a:prstGeom prst="roundRect">
            <a:avLst>
              <a:gd name="adj" fmla="val 789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736592" y="2688336"/>
            <a:ext cx="310896" cy="694944"/>
          </a:xfrm>
          <a:prstGeom prst="rect">
            <a:avLst/>
          </a:prstGeom>
          <a:solidFill>
            <a:srgbClr val="1B6644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736592" y="2688336"/>
            <a:ext cx="310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5102352" y="2724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62E"/>
                </a:solidFill>
              </a:rPr>
              <a:t>Modélisation (data science)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5102352" y="2962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Tests, corrélations, régressions, clustering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736592" y="3474720"/>
            <a:ext cx="4059936" cy="694944"/>
          </a:xfrm>
          <a:prstGeom prst="roundRect">
            <a:avLst>
              <a:gd name="adj" fmla="val 789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736592" y="3474720"/>
            <a:ext cx="310896" cy="694944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4736592" y="3474720"/>
            <a:ext cx="310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5102352" y="35112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62E"/>
                </a:solidFill>
              </a:rPr>
              <a:t>Interprétation et restitution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5102352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878"/>
                </a:solidFill>
              </a:rPr>
              <a:t>Synthèse, limites. Visuels finaux dans Tableau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02B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48737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878"/>
                </a:solidFill>
              </a:rPr>
              <a:t>10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14630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B5C"/>
                </a:solidFill>
              </a:rPr>
              <a:t>Répartition du travail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56032" y="658368"/>
            <a:ext cx="2048256" cy="42062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6032" y="658368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002B5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56032" y="67665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4A8"/>
                </a:solidFill>
              </a:rPr>
              <a:t>AXE 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56032" y="9144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Cartographie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347472" y="126187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B5C"/>
                </a:solidFill>
              </a:rPr>
              <a:t>Sham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" y="160934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Q1 &amp; Q2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" y="1901952"/>
            <a:ext cx="1865376" cy="1298448"/>
          </a:xfrm>
          <a:prstGeom prst="roundRect">
            <a:avLst>
              <a:gd name="adj" fmla="val 4225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02336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5C"/>
                </a:solidFill>
              </a:rPr>
              <a:t>Data analyse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402336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Cartes, tableaux de synthèse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47472" y="3273552"/>
            <a:ext cx="1865376" cy="1481328"/>
          </a:xfrm>
          <a:prstGeom prst="roundRect">
            <a:avLst>
              <a:gd name="adj" fmla="val 370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02336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644"/>
                </a:solidFill>
              </a:rPr>
              <a:t>Data science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402336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Quartiles, Pareto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432304" y="658368"/>
            <a:ext cx="2048256" cy="42062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432304" y="658368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002B5C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432304" y="67665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4A8"/>
                </a:solidFill>
              </a:rPr>
              <a:t>AXE 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2432304" y="9144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Corrélation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2523744" y="126187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B5C"/>
                </a:solidFill>
              </a:rPr>
              <a:t>Ibrahima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2523744" y="160934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Q3 &amp; Q4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23744" y="1901952"/>
            <a:ext cx="1865376" cy="1298448"/>
          </a:xfrm>
          <a:prstGeom prst="roundRect">
            <a:avLst>
              <a:gd name="adj" fmla="val 4225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2578608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5C"/>
                </a:solidFill>
              </a:rPr>
              <a:t>Data analyse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2578608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Scatter plots, cartes croisées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523744" y="3273552"/>
            <a:ext cx="1865376" cy="1481328"/>
          </a:xfrm>
          <a:prstGeom prst="roundRect">
            <a:avLst>
              <a:gd name="adj" fmla="val 370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2578608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644"/>
                </a:solidFill>
              </a:rPr>
              <a:t>Data science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2578608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Spearman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608576" y="658368"/>
            <a:ext cx="2048256" cy="42062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608576" y="658368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002B5C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608576" y="67665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4A8"/>
                </a:solidFill>
              </a:rPr>
              <a:t>AXE 3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4608576" y="9144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Evolution</a:t>
            </a:r>
            <a:endParaRPr lang="en-US" sz="850" dirty="0"/>
          </a:p>
        </p:txBody>
      </p:sp>
      <p:sp>
        <p:nvSpPr>
          <p:cNvPr id="37" name="Text 33"/>
          <p:cNvSpPr txBox="1"/>
          <p:nvPr/>
        </p:nvSpPr>
        <p:spPr>
          <a:xfrm>
            <a:off x="4700016" y="126187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B5C"/>
                </a:solidFill>
              </a:rPr>
              <a:t>Fatoumata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4700016" y="160934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Q5 &amp; Q6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700016" y="1901952"/>
            <a:ext cx="1865376" cy="1298448"/>
          </a:xfrm>
          <a:prstGeom prst="roundRect">
            <a:avLst>
              <a:gd name="adj" fmla="val 4225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4754880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5C"/>
                </a:solidFill>
              </a:rPr>
              <a:t>Data analyse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4754880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Courbes, comparaisons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4700016" y="3273552"/>
            <a:ext cx="1865376" cy="1481328"/>
          </a:xfrm>
          <a:prstGeom prst="roundRect">
            <a:avLst>
              <a:gd name="adj" fmla="val 370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475488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644"/>
                </a:solidFill>
              </a:rPr>
              <a:t>Data science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475488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Mann-Whitney, régression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6784848" y="658368"/>
            <a:ext cx="2048256" cy="42062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6784848" y="658368"/>
            <a:ext cx="2048256" cy="512064"/>
          </a:xfrm>
          <a:prstGeom prst="roundRect">
            <a:avLst>
              <a:gd name="adj" fmla="val 10714"/>
            </a:avLst>
          </a:prstGeom>
          <a:solidFill>
            <a:srgbClr val="002B5C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6784848" y="67665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94A8"/>
                </a:solidFill>
              </a:rPr>
              <a:t>AXE 4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6784848" y="9144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C4D8"/>
                </a:solidFill>
              </a:rPr>
              <a:t>Zones à risque</a:t>
            </a:r>
            <a:endParaRPr lang="en-US" sz="850" dirty="0"/>
          </a:p>
        </p:txBody>
      </p:sp>
      <p:sp>
        <p:nvSpPr>
          <p:cNvPr id="49" name="Text 45"/>
          <p:cNvSpPr txBox="1"/>
          <p:nvPr/>
        </p:nvSpPr>
        <p:spPr>
          <a:xfrm>
            <a:off x="6876288" y="126187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B5C"/>
                </a:solidFill>
              </a:rPr>
              <a:t>Fanta</a:t>
            </a:r>
            <a:endParaRPr lang="en-US" sz="1400" dirty="0"/>
          </a:p>
        </p:txBody>
      </p:sp>
      <p:sp>
        <p:nvSpPr>
          <p:cNvPr id="50" name="Text 46"/>
          <p:cNvSpPr txBox="1"/>
          <p:nvPr/>
        </p:nvSpPr>
        <p:spPr>
          <a:xfrm>
            <a:off x="6876288" y="160934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A8"/>
                </a:solidFill>
              </a:rPr>
              <a:t>Q7 &amp; Q8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876288" y="1901952"/>
            <a:ext cx="1865376" cy="1298448"/>
          </a:xfrm>
          <a:prstGeom prst="roundRect">
            <a:avLst>
              <a:gd name="adj" fmla="val 4225"/>
            </a:avLst>
          </a:prstGeom>
          <a:solidFill>
            <a:srgbClr val="E6EEF7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2" name="Text 48"/>
          <p:cNvSpPr txBox="1"/>
          <p:nvPr/>
        </p:nvSpPr>
        <p:spPr>
          <a:xfrm>
            <a:off x="6931152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5C"/>
                </a:solidFill>
              </a:rPr>
              <a:t>Data analyse</a:t>
            </a:r>
            <a:endParaRPr lang="en-US" sz="800" dirty="0"/>
          </a:p>
        </p:txBody>
      </p:sp>
      <p:sp>
        <p:nvSpPr>
          <p:cNvPr id="53" name="Text 49"/>
          <p:cNvSpPr txBox="1"/>
          <p:nvPr/>
        </p:nvSpPr>
        <p:spPr>
          <a:xfrm>
            <a:off x="6931152" y="2194560"/>
            <a:ext cx="1737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Box plots, tableaux croisés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876288" y="3273552"/>
            <a:ext cx="1865376" cy="1481328"/>
          </a:xfrm>
          <a:prstGeom prst="roundRect">
            <a:avLst>
              <a:gd name="adj" fmla="val 3704"/>
            </a:avLst>
          </a:prstGeom>
          <a:solidFill>
            <a:srgbClr val="EAF3ED"/>
          </a:solidFill>
          <a:ln/>
          <a:effectLst>
            <a:outerShdw sx="100000" sy="100000" kx="0" ky="0" algn="bl" rotWithShape="0" blurRad="63500" dist="25400" dir="16200000">
              <a:srgbClr val="000000">
                <a:alpha val="7000"/>
              </a:srgbClr>
            </a:outerShdw>
          </a:effectLst>
        </p:spPr>
      </p:sp>
      <p:sp>
        <p:nvSpPr>
          <p:cNvPr id="55" name="Text 51"/>
          <p:cNvSpPr txBox="1"/>
          <p:nvPr/>
        </p:nvSpPr>
        <p:spPr>
          <a:xfrm>
            <a:off x="6931152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644"/>
                </a:solidFill>
              </a:rPr>
              <a:t>Data science</a:t>
            </a:r>
            <a:endParaRPr lang="en-US" sz="800" dirty="0"/>
          </a:p>
        </p:txBody>
      </p:sp>
      <p:sp>
        <p:nvSpPr>
          <p:cNvPr id="56" name="Text 52"/>
          <p:cNvSpPr txBox="1"/>
          <p:nvPr/>
        </p:nvSpPr>
        <p:spPr>
          <a:xfrm>
            <a:off x="6931152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62E"/>
                </a:solidFill>
              </a:rPr>
              <a:t>K-means, rég. logistique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94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94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700016"/>
            <a:ext cx="1005840" cy="26517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634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128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Limites anticipées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56032" y="621792"/>
            <a:ext cx="2779776" cy="2468880"/>
          </a:xfrm>
          <a:prstGeom prst="roundRect">
            <a:avLst>
              <a:gd name="adj" fmla="val 2222"/>
            </a:avLst>
          </a:prstGeom>
          <a:solidFill>
            <a:srgbClr val="0A2E5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56032" y="71323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4A8"/>
                </a:solidFill>
              </a:rPr>
              <a:t>Volume des données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1591056"/>
            <a:ext cx="256032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</a:rPr>
              <a:t>DIS_RESULT dépasse la limite d'Excel. On utilisera RStudio et KNIME pour ce fichier.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163824" y="621792"/>
            <a:ext cx="2779776" cy="2468880"/>
          </a:xfrm>
          <a:prstGeom prst="roundRect">
            <a:avLst>
              <a:gd name="adj" fmla="val 2222"/>
            </a:avLst>
          </a:prstGeom>
          <a:solidFill>
            <a:srgbClr val="0A2E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163824" y="71323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273552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4A8"/>
                </a:solidFill>
              </a:rPr>
              <a:t>Harmonisation des codes INSEE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273552" y="1591056"/>
            <a:ext cx="256032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</a:rPr>
              <a:t>Format différent entre SISE-Eaux et Solagro. A corriger proprement au moment du nettoyage.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71616" y="621792"/>
            <a:ext cx="2779776" cy="2468880"/>
          </a:xfrm>
          <a:prstGeom prst="roundRect">
            <a:avLst>
              <a:gd name="adj" fmla="val 2222"/>
            </a:avLst>
          </a:prstGeom>
          <a:solidFill>
            <a:srgbClr val="0A2E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071616" y="713232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181344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4A8"/>
                </a:solidFill>
              </a:rPr>
              <a:t>Qualité des données brutes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181344" y="1591056"/>
            <a:ext cx="256032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D8"/>
                </a:solidFill>
              </a:rPr>
              <a:t>Fichiers non nettoyés : valeurs manquantes et codes mal renseignés à prévoir.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6032" y="3218688"/>
            <a:ext cx="8631936" cy="1664208"/>
          </a:xfrm>
          <a:prstGeom prst="roundRect">
            <a:avLst>
              <a:gd name="adj" fmla="val 3297"/>
            </a:avLst>
          </a:prstGeom>
          <a:solidFill>
            <a:srgbClr val="0A2E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4A8"/>
                </a:solidFill>
              </a:rPr>
              <a:t>Objectif de cette présentation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Valider le cadrage du projet, les axes d'analyse et la répartition. Prochain chantier : récupérer les fichiers complets et commencer le nettoyage des données.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3159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4A8"/>
                </a:solidFill>
              </a:rPr>
              <a:t>Merci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2026-09-14T16:45:10Z</dcterms:created>
  <dcterms:modified xsi:type="dcterms:W3CDTF">2026-09-14T16:45:10Z</dcterms:modified>
</cp:coreProperties>
</file>